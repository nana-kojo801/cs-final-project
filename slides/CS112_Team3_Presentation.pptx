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B9CADA"/>
                </a:solidFill>
                <a:latin typeface="Segoe UI"/>
              </a:rPr>
              <a:t>CS 112  ·  COMPUTER PROGRAMMING FOR CS  ·  SUMMER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National Grid Analysis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15B8A6"/>
                </a:solidFill>
                <a:latin typeface="Segoe UI Semibold"/>
              </a:rPr>
              <a:t>GridCare-Lite  ·  ClinicCare-Lite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886200"/>
            <a:ext cx="2194560" cy="82296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buNone/>
            </a:pPr>
            <a:r>
              <a:rPr sz="1500" b="0" i="0">
                <a:solidFill>
                  <a:srgbClr val="B9CADA"/>
                </a:solidFill>
                <a:latin typeface="Segoe UI"/>
              </a:rPr>
              <a:t>Cohort A · Team 3</a:t>
            </a:r>
          </a:p>
          <a:p>
            <a:pPr algn="l">
              <a:lnSpc>
                <a:spcPct val="130000"/>
              </a:lnSpc>
              <a:spcAft>
                <a:spcPts val="8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Segoe UI"/>
              </a:rPr>
              <a:t>Nana Kojo Atta-Benyah · Brian Edem Bedzrah · Shawn Tei Kpoti · Nana Ekow Amuah</a:t>
            </a:r>
          </a:p>
          <a:p>
            <a:pPr algn="l">
              <a:lnSpc>
                <a:spcPct val="130000"/>
              </a:lnSpc>
              <a:spcAft>
                <a:spcPts val="800"/>
              </a:spcAft>
              <a:buNone/>
            </a:pPr>
            <a:r>
              <a:rPr sz="1500" b="0" i="0">
                <a:solidFill>
                  <a:srgbClr val="15B8A6"/>
                </a:solidFill>
                <a:latin typeface="Segoe UI"/>
              </a:rPr>
              <a:t>github.com/Nana-Kojo801/cs-final-project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No clean public dataset of substation-level grid topology for Ghana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Real patient data can't be used in coursework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Solution: a seeded synthetic dataset (random.seed(42)) + fictional demo accounts</a:t>
            </a:r>
          </a:p>
          <a:p>
            <a:pPr algn="l" lvl="1">
              <a:lnSpc>
                <a:spcPct val="114000"/>
              </a:lnSpc>
              <a:spcAft>
                <a:spcPts val="700"/>
              </a:spcAft>
              <a:buNone/>
            </a:pPr>
            <a:r>
              <a:rPr sz="1300" b="1" i="0">
                <a:solidFill>
                  <a:srgbClr val="B9CADA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C6C7E"/>
                </a:solidFill>
                <a:latin typeface="Segoe UI"/>
              </a:rPr>
              <a:t>Every result reproducible, nothing confidential exposed</a:t>
            </a:r>
          </a:p>
          <a:p>
            <a:pPr algn="l" lvl="1">
              <a:lnSpc>
                <a:spcPct val="114000"/>
              </a:lnSpc>
              <a:spcAft>
                <a:spcPts val="700"/>
              </a:spcAft>
              <a:buNone/>
            </a:pPr>
            <a:r>
              <a:rPr sz="1300" b="1" i="0">
                <a:solidFill>
                  <a:srgbClr val="B9CADA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C6C7E"/>
                </a:solidFill>
                <a:latin typeface="Segoe UI"/>
              </a:rPr>
              <a:t>Still exercises the full lifecycle: data → analysis → design → build → test →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Three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74519"/>
          <a:ext cx="1051560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28016" marR="128016" marT="36576" marB="36576" anchor="ctr"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grid-analysis</a:t>
                      </a:r>
                    </a:p>
                  </a:txBody>
                  <a:tcPr marL="128016" marR="128016" marT="36576" marB="36576" anchor="ctr"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GridCare-Lite</a:t>
                      </a:r>
                    </a:p>
                  </a:txBody>
                  <a:tcPr marL="128016" marR="128016" marT="36576" marB="36576" anchor="ctr"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ClinicCare-Lite</a:t>
                      </a:r>
                    </a:p>
                  </a:txBody>
                  <a:tcPr marL="128016" marR="128016" marT="36576" marB="36576" anchor="ctr">
                    <a:solidFill>
                      <a:srgbClr val="0E29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Focus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Data science + network science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Software eng. + DB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Secure web app + privacy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Stack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pandas, NetworkX, Folium, Plotly, Streamlit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Tkinter + SQLite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Flask + JSON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Reports, charts, interactive map, dashboard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Desktop outage-management GUI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Clinic admin &amp; comms web app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366674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Shared: bcrypt auth, role-based access control, state machines, automated tests, markdown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PART 1  ·  GRID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The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515600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10 utilities · 44 substations · 55 lines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Real geography + real utility names (ECG, NEDCo, GRIDCo, VRA)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Synthetic coordinates, capacities, years, connections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WAPP cross-border interconnections (Burkina Faso, Côte d'Ivoire, Togo, Benin)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10515600" cy="585216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19272"/>
            <a:ext cx="64008" cy="585216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319272"/>
            <a:ext cx="10058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0E2942"/>
                </a:solidFill>
                <a:latin typeface="Segoe UI"/>
              </a:rPr>
              <a:t>Cleaning (Task 1): 0 missing, 0 duplicates, 0 orphaned foreign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— the validation code is the deliverable, not the empty defect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PART 1  ·  GRID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EDA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6309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Greater Accra has the most substations (6); Ashanti next (5)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161 kV most common voltage level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GRIDCo operates 24 / 55 lines — the transmission backbone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Capacity is right-skewed: median ≈ 108 MVA, max 506 MVA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96% of lines Active, 2 under maintenance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920240"/>
            <a:ext cx="4114800" cy="2606040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da_lines_per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965960"/>
            <a:ext cx="4023360" cy="2514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2360" y="45902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1">
                <a:solidFill>
                  <a:srgbClr val="5C6C7E"/>
                </a:solidFill>
                <a:latin typeface="Segoe UI"/>
              </a:rPr>
              <a:t>eda_lines_per_utility.png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PART 1  ·  GRID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Network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195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Undirected graph: 44 nodes, 55 edges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Built from substation IDs → reveals 3 connected components</a:t>
            </a:r>
          </a:p>
          <a:p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200" b="0" i="1">
                <a:solidFill>
                  <a:srgbClr val="5C6C7E"/>
                </a:solidFill>
                <a:latin typeface="Segoe UI"/>
              </a:rPr>
              <a:t>(a name-keyed graph hides the 2 isolated substations — DEF-02)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Highest betweenness: Cape Coast (0.53), Takoradi, Kumasi Central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10 communities ≈ administrative regions + cross-border clusters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21 of 55 edges are bridges — global efficiency only 0.24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PART 1  ·  GRID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N-1 contingency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Remove one component, measure fragmentation.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386584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Remove</a:t>
                      </a:r>
                    </a:p>
                  </a:txBody>
                  <a:tcPr marL="128016" marR="128016" marT="36576" marB="36576" anchor="ctr"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128016" marR="128016" marT="36576" marB="36576" anchor="ctr">
                    <a:solidFill>
                      <a:srgbClr val="0E29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Kumasi Central substation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+3 fragments, 15 substations cut from main grid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Cape Coast / Takoradi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2 fragments, ~20 substations cut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Mallam / Legon (peripheral)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no extra fragmentation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>
                          <a:solidFill>
                            <a:srgbClr val="1B2A38"/>
                          </a:solidFill>
                          <a:latin typeface="Segoe UI"/>
                        </a:rPr>
                        <a:t>21 of 55 single lines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>
                          <a:solidFill>
                            <a:srgbClr val="1B2A38"/>
                          </a:solidFill>
                          <a:latin typeface="Segoe UI"/>
                        </a:rPr>
                        <a:t>split the network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2960" y="4581144"/>
            <a:ext cx="10515600" cy="585216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581144"/>
            <a:ext cx="64008" cy="585216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581144"/>
            <a:ext cx="10058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0E2942"/>
                </a:solidFill>
                <a:latin typeface="Segoe UI"/>
              </a:rPr>
              <a:t>This grid is radial-leaning — not topologically N-1 secure.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30952"/>
            <a:ext cx="10515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Recommendation: build loops around the bridge corridors.</a:t>
            </a:r>
          </a:p>
          <a:p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200" b="0" i="1">
                <a:solidFill>
                  <a:srgbClr val="5C6C7E"/>
                </a:solidFill>
                <a:latin typeface="Segoe UI"/>
              </a:rPr>
              <a:t>(Graph topology only — ignores load flow, thermal limits, protection.)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PART 1  ·  GRID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Visualisation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6309360" cy="195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Static network diagram (geographic, node size ∝ capacity)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Interactive Folium map — substation + line layers, voltage colour-coding, maintenance highlighting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Plotly scatter-geo map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Streamlit dashboard — Overview / Network / Geography / Reliability / 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920240"/>
            <a:ext cx="4114800" cy="3805311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etwor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965960"/>
            <a:ext cx="4023360" cy="37138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2360" y="578955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1">
                <a:solidFill>
                  <a:srgbClr val="5C6C7E"/>
                </a:solidFill>
                <a:latin typeface="Segoe UI"/>
              </a:rPr>
              <a:t>network_graph.png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PART 2  ·  GRIDCARE-LITE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GridCare-Lite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2267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Role-based Tkinter + SQLite outage &amp; maintenance management.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Roles: administrator · engineer · technician · customer-service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RBAC in the service layer and DB constraints — not just hidden buttons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State machines: Open→In Progress→Resolved, Pending→Scheduled→Completed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Every transition writes a status_history audit row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Substations imported from grid-analysis → outages only against real assets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"Critical substation" flag from betweenness centrality (labelled a structural proxy)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PART 2  ·  GRIDCARE-LITE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GridCare-Lite — the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2267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2F6FED"/>
                </a:solidFill>
                <a:latin typeface="Segoe UI"/>
              </a:rPr>
              <a:t>1.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Engineer logs an outage against a substation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2F6FED"/>
                </a:solidFill>
                <a:latin typeface="Segoe UI"/>
              </a:rPr>
              <a:t>2.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Admin creates + assigns a work order (technician + date)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2F6FED"/>
                </a:solidFill>
                <a:latin typeface="Segoe UI"/>
              </a:rPr>
              <a:t>3.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Technician starts work → outage In Progress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2F6FED"/>
                </a:solidFill>
                <a:latin typeface="Segoe UI"/>
              </a:rPr>
              <a:t>4.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Technician completes with mandatory notes → work order Completed, outage auto-Resolved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2F6FED"/>
                </a:solidFill>
                <a:latin typeface="Segoe UI"/>
              </a:rPr>
              <a:t>5.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Customer-service logs + links a complaint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2F6FED"/>
                </a:solidFill>
                <a:latin typeface="Segoe UI"/>
              </a:rPr>
              <a:t>6.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Reports screen recomputes open counts + average resolution time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Invalid input (bad date, empty field, wrong role, duplicate, bad transition) → clear message, never a crash.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PART 3  ·  CLINICCARE-LITE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ClinicCare-Lite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Secure Flask clinic administration &amp; communication. Roles: clinician · patient.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8-digit IDs (clinician …0000, patient …2022–2028), password complexity, bcrypt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Sessions + login_required / role_required; 403 on cross-role access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Health task → file submission → structural check → categorical review → notify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Appointments, reminders, announcements, secure messaging,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0168"/>
            <a:ext cx="10515600" cy="585216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30168"/>
            <a:ext cx="64008" cy="585216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630168"/>
            <a:ext cx="10058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0E2942"/>
                </a:solidFill>
                <a:latin typeface="Segoe UI"/>
              </a:rPr>
              <a:t>Administrative &amp; communication only — never diagnoses, scores, or recommends treatment.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PART 3  ·  CLINICCARE-LITE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ClinicCare-Lite — privacy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195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Patient sees only their own tasks, submissions, messages, engagement, analytics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message.thread() returns messages only where you're a participant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Engagement tracker is private — no leaderboard, no rank_patients (asserted by a test)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Clinician review/download gated by shares_clinic(clinician, patient)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File handling: extension allow-list, 2 MB cap, path-traversal blocked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Structural completeness check: "the 'date' column is missing" — never "your reading is high"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74519"/>
          <a:ext cx="1051560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Suite</a:t>
                      </a:r>
                    </a:p>
                  </a:txBody>
                  <a:tcPr marL="128016" marR="128016" marT="36576" marB="36576" anchor="ctr"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Tests</a:t>
                      </a:r>
                    </a:p>
                  </a:txBody>
                  <a:tcPr marL="128016" marR="128016" marT="36576" marB="36576" anchor="ctr"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128016" marR="128016" marT="36576" marB="36576" anchor="ctr">
                    <a:solidFill>
                      <a:srgbClr val="0E29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GridCare-Lite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all pass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ClinicCare-Lite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1B2A38"/>
                          </a:solidFill>
                          <a:latin typeface="Segoe UI"/>
                        </a:rPr>
                        <a:t>all pass</a:t>
                      </a:r>
                    </a:p>
                  </a:txBody>
                  <a:tcPr marL="128016" marR="128016" marT="36576" marB="36576" anchor="ctr">
                    <a:solidFill>
                      <a:srgbClr val="EC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>
                          <a:solidFill>
                            <a:srgbClr val="1B2A38"/>
                          </a:solidFill>
                          <a:latin typeface="Segoe UI"/>
                        </a:rPr>
                        <a:t>Total automated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>
                          <a:solidFill>
                            <a:srgbClr val="1B2A38"/>
                          </a:solidFill>
                          <a:latin typeface="Segoe UI"/>
                        </a:rPr>
                        <a:t>52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>
                          <a:solidFill>
                            <a:srgbClr val="1B2A38"/>
                          </a:solidFill>
                          <a:latin typeface="Segoe UI"/>
                        </a:rPr>
                        <a:t>green on main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3666744"/>
            <a:ext cx="10515600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Plus a 57-case manual test plan executed by ≥ 2 members.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5 defects found &amp; fixed (all with regression tests): JSON truncation,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name-keyed graph, work-order→outage propagation, cross-technician updates,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missing template filter.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What we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Enforce rules in a service layer, not the UI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Write the regression test the moment you find the bug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Treat "clean" data as untrusted anyway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Our first N-1 hypothesis was wrong — we kept the finding and explained it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Staying non-diagnostic takes active restraint — the "obvious" feature is the forbidden 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2F6FED"/>
                </a:solidFill>
                <a:latin typeface="Segoe UI"/>
              </a:rPr>
              <a:t>1.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grid-analysis: interactive map + N-1 chart + Streamlit dashboard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2F6FED"/>
                </a:solidFill>
                <a:latin typeface="Segoe UI"/>
              </a:rPr>
              <a:t>2.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GridCare-Lite: engineer → admin → technician → resolved; then a role-access rejection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2F6FED"/>
                </a:solidFill>
                <a:latin typeface="Segoe UI"/>
              </a:rPr>
              <a:t>3.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ClinicCare-Lite: clinician assigns task → patient submits (with a completeness flag) →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clinician reviews → patient sees outcome → private engagement view →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450" b="0" i="0">
                <a:solidFill>
                  <a:srgbClr val="1B2A38"/>
                </a:solidFill>
                <a:latin typeface="Segoe UI"/>
              </a:rPr>
              <a:t>a cross-patient access attempt → 403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15B8A6"/>
                </a:solidFill>
                <a:latin typeface="Segoe U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0E2942"/>
                </a:solidFill>
                <a:latin typeface="Segoe UI Semibold"/>
              </a:rPr>
              <a:t>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5C6C7E"/>
                </a:solidFill>
                <a:latin typeface="Segoe UI"/>
              </a:rPr>
              <a:t>CS 112  ·  Cohort A — Team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buNone/>
            </a:pPr>
            <a:r>
              <a:rPr sz="900" b="1" i="0">
                <a:solidFill>
                  <a:srgbClr val="5C6C7E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grid-analysis: real load/outage time-series; capacity-weighted contingency; animated grid growth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GridCare-Lite: multi-user server backend, SLA timers, crew scheduling</a:t>
            </a:r>
          </a:p>
          <a:p>
            <a:pPr algn="l">
              <a:lnSpc>
                <a:spcPct val="114000"/>
              </a:lnSpc>
              <a:spcAft>
                <a:spcPts val="700"/>
              </a:spcAft>
              <a:buNone/>
            </a:pPr>
            <a:r>
              <a:rPr sz="1500" b="1" i="0">
                <a:solidFill>
                  <a:srgbClr val="15B8A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B2A38"/>
                </a:solidFill>
                <a:latin typeface="Segoe UI"/>
              </a:rPr>
              <a:t>ClinicCare-Lite: patient self-scheduling, WebSocket messaging, real database, deployment hardening (CSRF, rate limiting)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11880"/>
            <a:ext cx="2194560" cy="82296"/>
          </a:xfrm>
          <a:prstGeom prst="rect">
            <a:avLst/>
          </a:prstGeom>
          <a:solidFill>
            <a:srgbClr val="15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B9CADA"/>
                </a:solidFill>
                <a:latin typeface="Segoe UI"/>
              </a:rPr>
              <a:t>Cohort A · Team 3</a:t>
            </a:r>
          </a:p>
          <a:p>
            <a:pPr algn="l">
              <a:lnSpc>
                <a:spcPct val="135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B9CADA"/>
                </a:solidFill>
                <a:latin typeface="Segoe UI"/>
              </a:rPr>
              <a:t>Questions?</a:t>
            </a:r>
          </a:p>
          <a:p>
            <a:pPr algn="l">
              <a:lnSpc>
                <a:spcPct val="135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15B8A6"/>
                </a:solidFill>
                <a:latin typeface="Segoe UI"/>
              </a:rPr>
              <a:t>github.com/Nana-Kojo801/cs-final-project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