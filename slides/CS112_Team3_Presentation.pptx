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C2733"/>
                </a:solidFill>
              </a:defRPr>
            </a:pPr>
            <a:r>
              <a:t>National Grid Analysis · GridCare-Lite · ClinicCare-Lite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C2733"/>
                </a:solidFill>
              </a:defRPr>
            </a:pPr>
            <a:r>
              <a:t>CS 112 — Computer Programming for CS · Summer 2026</a:t>
            </a:r>
          </a:p>
          <a:p>
            <a:pPr>
              <a:spcAft>
                <a:spcPts val="600"/>
              </a:spcAft>
              <a:defRPr sz="1800">
                <a:solidFill>
                  <a:srgbClr val="1C2733"/>
                </a:solidFill>
              </a:defRPr>
            </a:pPr>
            <a:r>
              <a:t>Cohort A · Team 3</a:t>
            </a:r>
          </a:p>
          <a:p>
            <a:pPr>
              <a:spcAft>
                <a:spcPts val="600"/>
              </a:spcAft>
              <a:defRPr sz="1800">
                <a:solidFill>
                  <a:srgbClr val="1C2733"/>
                </a:solidFill>
              </a:defRPr>
            </a:pPr>
            <a:r>
              <a:t>Nana Kojo Atta-Benyah · Brian Edem Bedzrah · Shawn Tei Kpoti · Nana Ekow Amuah</a:t>
            </a:r>
          </a:p>
          <a:p>
            <a:pPr>
              <a:spcAft>
                <a:spcPts val="600"/>
              </a:spcAft>
              <a:defRPr sz="1800">
                <a:solidFill>
                  <a:srgbClr val="5B6B7D"/>
                </a:solidFill>
              </a:defRPr>
            </a:pPr>
            <a:r>
              <a:t>github.com/Nana-Kojo801/cs-final-project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No clean public dataset of substation-level grid topology for Ghana</a:t>
            </a:r>
          </a:p>
          <a:p>
            <a:pPr>
              <a:spcAft>
                <a:spcPts val="700"/>
              </a:spcAft>
              <a:defRPr sz="1700"/>
            </a:pPr>
            <a:r>
              <a:t>- Real patient data can't be used in coursework</a:t>
            </a:r>
          </a:p>
          <a:p>
            <a:pPr>
              <a:spcAft>
                <a:spcPts val="700"/>
              </a:spcAft>
              <a:defRPr sz="1700"/>
            </a:pPr>
            <a:r>
              <a:t>- Solution: a seeded synthetic dataset (random.seed(42)) + fictional demo accounts</a:t>
            </a:r>
          </a:p>
          <a:p>
            <a:pPr lvl="1">
              <a:spcAft>
                <a:spcPts val="700"/>
              </a:spcAft>
              <a:defRPr sz="1400"/>
            </a:pPr>
            <a:r>
              <a:t>  - Every result reproducible, nothing confidential exposed</a:t>
            </a:r>
          </a:p>
          <a:p>
            <a:pPr lvl="1">
              <a:spcAft>
                <a:spcPts val="700"/>
              </a:spcAft>
              <a:defRPr sz="1400"/>
            </a:pPr>
            <a:r>
              <a:t>  - Still exercises the full lifecycle: data -&gt; analysis -&gt; design -&gt; build -&gt; test -&gt; document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Three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Shared: bcrypt auth, role-based access control, state machines, automated tests, markdown reports.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02336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grid-analysis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GridCare-Lite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ClinicCare-Lite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Data science + network science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Software eng. +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Secure web app + privacy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Stack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pandas, NetworkX, Folium, Plotly, Streamlit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Tkinter + SQLite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Flask + JSON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Reports, charts, interactive map,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Desktop outage-management GUI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Clinic admin &amp; comms web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Part 1 —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- 10 utilities · 44 substations · 55 lines</a:t>
            </a:r>
          </a:p>
          <a:p>
            <a:pPr>
              <a:spcAft>
                <a:spcPts val="700"/>
              </a:spcAft>
              <a:defRPr sz="1700"/>
            </a:pPr>
            <a:r>
              <a:t>- Real geography + real utility names (ECG, NEDCo, GRIDCo, VRA)</a:t>
            </a:r>
          </a:p>
          <a:p>
            <a:pPr>
              <a:spcAft>
                <a:spcPts val="700"/>
              </a:spcAft>
              <a:defRPr sz="1700"/>
            </a:pPr>
            <a:r>
              <a:t>- Synthetic coordinates, capacities, years, connections</a:t>
            </a:r>
          </a:p>
          <a:p>
            <a:pPr>
              <a:spcAft>
                <a:spcPts val="700"/>
              </a:spcAft>
              <a:defRPr sz="1700"/>
            </a:pPr>
            <a:r>
              <a:t>- WAPP cross-border interconnections (Burkina Faso, Côte d'Ivoire, Togo, Benin)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Cleaning (Task 1): 0 missing, 0 duplicates, 0 orphaned foreign keys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— the validation code is the deliverable, not the empty defect 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EDA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Greater Accra has the most substations (6); Ashanti next (5)</a:t>
            </a:r>
          </a:p>
          <a:p>
            <a:pPr>
              <a:spcAft>
                <a:spcPts val="700"/>
              </a:spcAft>
              <a:defRPr sz="1700"/>
            </a:pPr>
            <a:r>
              <a:t>- 161 kV most common voltage level</a:t>
            </a:r>
          </a:p>
          <a:p>
            <a:pPr>
              <a:spcAft>
                <a:spcPts val="700"/>
              </a:spcAft>
              <a:defRPr sz="1700"/>
            </a:pPr>
            <a:r>
              <a:t>- GRIDCo operates 24 / 55 lines — the transmission backbone</a:t>
            </a:r>
          </a:p>
          <a:p>
            <a:pPr>
              <a:spcAft>
                <a:spcPts val="700"/>
              </a:spcAft>
              <a:defRPr sz="1700"/>
            </a:pPr>
            <a:r>
              <a:t>- Capacity is right-skewed: median ~ 108 MVA, max 506 MVA</a:t>
            </a:r>
          </a:p>
          <a:p>
            <a:pPr>
              <a:spcAft>
                <a:spcPts val="700"/>
              </a:spcAft>
              <a:defRPr sz="1700"/>
            </a:pPr>
            <a:r>
              <a:t>- 96% of lines Active, 2 under maintenance</a:t>
            </a:r>
          </a:p>
        </p:txBody>
      </p:sp>
      <p:pic>
        <p:nvPicPr>
          <p:cNvPr id="7" name="Picture 6" descr="eda_lines_per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02336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Network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Undirected graph: 44 nodes, 55 edges</a:t>
            </a:r>
          </a:p>
          <a:p>
            <a:pPr>
              <a:spcAft>
                <a:spcPts val="700"/>
              </a:spcAft>
              <a:defRPr sz="1700"/>
            </a:pPr>
            <a:r>
              <a:t>- Built from substation IDs -&gt; reveals 3 connected components</a:t>
            </a:r>
          </a:p>
          <a:p>
            <a:pPr>
              <a:spcAft>
                <a:spcPts val="700"/>
              </a:spcAft>
              <a:defRPr sz="1500" i="1">
                <a:solidFill>
                  <a:srgbClr val="1C2733"/>
                </a:solidFill>
              </a:defRPr>
            </a:pPr>
            <a:r>
              <a:t>(a name-keyed graph hides the 2 isolated substations — DEF-02)</a:t>
            </a:r>
          </a:p>
          <a:p>
            <a:pPr>
              <a:spcAft>
                <a:spcPts val="700"/>
              </a:spcAft>
              <a:defRPr sz="1700"/>
            </a:pPr>
            <a:r>
              <a:t>- Highest betweenness: Cape Coast (0.53), Takoradi, Kumasi Central</a:t>
            </a:r>
          </a:p>
          <a:p>
            <a:pPr>
              <a:spcAft>
                <a:spcPts val="700"/>
              </a:spcAft>
              <a:defRPr sz="1700"/>
            </a:pPr>
            <a:r>
              <a:t>- 10 communities ~ administrative regions + cross-border clusters</a:t>
            </a:r>
          </a:p>
          <a:p>
            <a:pPr>
              <a:spcAft>
                <a:spcPts val="700"/>
              </a:spcAft>
              <a:defRPr sz="1700"/>
            </a:pPr>
            <a:r>
              <a:t>- 21 of 55 edges are bridges — global efficiency only 0.24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N-1 contingency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Remove one component, measure fragmentation.</a:t>
            </a:r>
          </a:p>
          <a:p>
            <a:pPr>
              <a:spcAft>
                <a:spcPts val="700"/>
              </a:spcAft>
              <a:defRPr sz="1500" i="0">
                <a:solidFill>
                  <a:srgbClr val="0D9488"/>
                </a:solidFill>
              </a:defRPr>
            </a:pPr>
            <a:r>
              <a:t>This grid is radial-leaning — not topologically N-1 secure.</a:t>
            </a:r>
          </a:p>
          <a:p>
            <a:pPr>
              <a:spcAft>
                <a:spcPts val="700"/>
              </a:spcAft>
              <a:defRPr sz="1500" i="0">
                <a:solidFill>
                  <a:srgbClr val="0D9488"/>
                </a:solidFill>
              </a:defRPr>
            </a:pPr>
            <a:r>
              <a:t>Recommendation: build loops around the bridge corridors.</a:t>
            </a:r>
          </a:p>
          <a:p>
            <a:pPr>
              <a:spcAft>
                <a:spcPts val="700"/>
              </a:spcAft>
              <a:defRPr sz="1500" i="1">
                <a:solidFill>
                  <a:srgbClr val="1C2733"/>
                </a:solidFill>
              </a:defRPr>
            </a:pPr>
            <a:r>
              <a:t>(Graph topology only — ignores load flow, thermal limits, protection.)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02336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Remove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Kumasi Central substation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+3 fragments, 15 substations cut from main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Cape Coast / Takoradi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 fragments, ~20 substations cut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Mallam / Legon (peripheral)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no extra fragmentation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21 of 55 single lines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split the network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Visualisation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Static network diagram (geographic, node size ~ capacity)</a:t>
            </a:r>
          </a:p>
          <a:p>
            <a:pPr>
              <a:spcAft>
                <a:spcPts val="700"/>
              </a:spcAft>
              <a:defRPr sz="1700"/>
            </a:pPr>
            <a:r>
              <a:t>- Interactive Folium map — substation + line layers, voltage colour-coding, maintenance highlighting</a:t>
            </a:r>
          </a:p>
          <a:p>
            <a:pPr>
              <a:spcAft>
                <a:spcPts val="700"/>
              </a:spcAft>
              <a:defRPr sz="1700"/>
            </a:pPr>
            <a:r>
              <a:t>- Plotly scatter-geo map</a:t>
            </a:r>
          </a:p>
          <a:p>
            <a:pPr>
              <a:spcAft>
                <a:spcPts val="700"/>
              </a:spcAft>
              <a:defRPr sz="1700"/>
            </a:pPr>
            <a:r>
              <a:t>- Streamlit dashboard — Overview / Network / Geography / Reliability / Search</a:t>
            </a:r>
          </a:p>
        </p:txBody>
      </p:sp>
      <p:pic>
        <p:nvPicPr>
          <p:cNvPr id="7" name="Picture 6" descr="network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023360" cy="37138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Part 2 — GridCare-Lite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Role-based Tkinter + SQLite outage &amp; maintenance management.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Roles: administrator · engineer · technician · customer-service</a:t>
            </a:r>
          </a:p>
          <a:p>
            <a:pPr>
              <a:spcAft>
                <a:spcPts val="700"/>
              </a:spcAft>
              <a:defRPr sz="1700"/>
            </a:pPr>
            <a:r>
              <a:t>- RBAC in the service layer and DB constraints — not just hidden buttons</a:t>
            </a:r>
          </a:p>
          <a:p>
            <a:pPr>
              <a:spcAft>
                <a:spcPts val="700"/>
              </a:spcAft>
              <a:defRPr sz="1700"/>
            </a:pPr>
            <a:r>
              <a:t>- State machines: Open-&gt;In Progress-&gt;Resolved, Pending-&gt;Scheduled-&gt;Completed</a:t>
            </a:r>
          </a:p>
          <a:p>
            <a:pPr>
              <a:spcAft>
                <a:spcPts val="700"/>
              </a:spcAft>
              <a:defRPr sz="1700"/>
            </a:pPr>
            <a:r>
              <a:t>- Every transition writes a status_history audit row</a:t>
            </a:r>
          </a:p>
          <a:p>
            <a:pPr>
              <a:spcAft>
                <a:spcPts val="700"/>
              </a:spcAft>
              <a:defRPr sz="1700"/>
            </a:pPr>
            <a:r>
              <a:t>- Substations imported from grid-analysis -&gt; outages only against real assets</a:t>
            </a:r>
          </a:p>
          <a:p>
            <a:pPr>
              <a:spcAft>
                <a:spcPts val="700"/>
              </a:spcAft>
              <a:defRPr sz="1700"/>
            </a:pPr>
            <a:r>
              <a:t>- "Critical substation" flag from betweenness centrality (labelled a structural proxy)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GridCare-Lite — the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Engineer logs an outage against a substation</a:t>
            </a:r>
          </a:p>
          <a:p>
            <a:pPr>
              <a:spcAft>
                <a:spcPts val="700"/>
              </a:spcAft>
              <a:defRPr sz="1600"/>
            </a:pPr>
            <a:r>
              <a:t>Admin creates + assigns a work order (technician + date)</a:t>
            </a:r>
          </a:p>
          <a:p>
            <a:pPr>
              <a:spcAft>
                <a:spcPts val="700"/>
              </a:spcAft>
              <a:defRPr sz="1600"/>
            </a:pPr>
            <a:r>
              <a:t>Technician starts work -&gt; outage In Progress</a:t>
            </a:r>
          </a:p>
          <a:p>
            <a:pPr>
              <a:spcAft>
                <a:spcPts val="700"/>
              </a:spcAft>
              <a:defRPr sz="1600"/>
            </a:pPr>
            <a:r>
              <a:t>Technician completes with mandatory notes -&gt; work order Completed, outage auto-Resolved</a:t>
            </a:r>
          </a:p>
          <a:p>
            <a:pPr>
              <a:spcAft>
                <a:spcPts val="700"/>
              </a:spcAft>
              <a:defRPr sz="1600"/>
            </a:pPr>
            <a:r>
              <a:t>Customer-service logs + links a complaint</a:t>
            </a:r>
          </a:p>
          <a:p>
            <a:pPr>
              <a:spcAft>
                <a:spcPts val="700"/>
              </a:spcAft>
              <a:defRPr sz="1600"/>
            </a:pPr>
            <a:r>
              <a:t>Reports screen recomputes open counts + average resolution time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Invalid input (bad date, empty field, wrong role, duplicate, bad transition) -&gt; clear message, never a crash.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Part 3 — ClinicCare-Lite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Secure Flask clinic administration &amp; communication. Roles: clinician · patient.</a:t>
            </a:r>
          </a:p>
          <a:p>
            <a:pPr>
              <a:spcAft>
                <a:spcPts val="700"/>
              </a:spcAft>
              <a:defRPr sz="1700"/>
            </a:pPr>
            <a:r>
              <a:t>- 8-digit IDs (clinician …0000, patient …2022–2028), password complexity, bcrypt</a:t>
            </a:r>
          </a:p>
          <a:p>
            <a:pPr>
              <a:spcAft>
                <a:spcPts val="700"/>
              </a:spcAft>
              <a:defRPr sz="1700"/>
            </a:pPr>
            <a:r>
              <a:t>- Sessions + login_required / role_required; 403 on cross-role access</a:t>
            </a:r>
          </a:p>
          <a:p>
            <a:pPr>
              <a:spcAft>
                <a:spcPts val="700"/>
              </a:spcAft>
              <a:defRPr sz="1700"/>
            </a:pPr>
            <a:r>
              <a:t>- Health task -&gt; file submission -&gt; structural check -&gt; categorical review -&gt; notify</a:t>
            </a:r>
          </a:p>
          <a:p>
            <a:pPr>
              <a:spcAft>
                <a:spcPts val="700"/>
              </a:spcAft>
              <a:defRPr sz="1700"/>
            </a:pPr>
            <a:r>
              <a:t>- Appointments, reminders, announcements, secure messaging, analytics</a:t>
            </a:r>
          </a:p>
          <a:p>
            <a:pPr>
              <a:spcAft>
                <a:spcPts val="700"/>
              </a:spcAft>
              <a:defRPr sz="1500" i="0">
                <a:solidFill>
                  <a:srgbClr val="0D9488"/>
                </a:solidFill>
              </a:defRPr>
            </a:pPr>
            <a:r>
              <a:t>Administrative &amp; communication only — never diagnoses, scores, or recommends treatment.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ClinicCare-Lite —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Patient sees only their own tasks, submissions, messages, engagement, analytics</a:t>
            </a:r>
          </a:p>
          <a:p>
            <a:pPr>
              <a:spcAft>
                <a:spcPts val="700"/>
              </a:spcAft>
              <a:defRPr sz="1700"/>
            </a:pPr>
            <a:r>
              <a:t>- message.thread() returns messages only where you're a participant</a:t>
            </a:r>
          </a:p>
          <a:p>
            <a:pPr>
              <a:spcAft>
                <a:spcPts val="700"/>
              </a:spcAft>
              <a:defRPr sz="1700"/>
            </a:pPr>
            <a:r>
              <a:t>- Engagement tracker is private — no leaderboard, no rank_patients (asserted by a test)</a:t>
            </a:r>
          </a:p>
          <a:p>
            <a:pPr>
              <a:spcAft>
                <a:spcPts val="700"/>
              </a:spcAft>
              <a:defRPr sz="1700"/>
            </a:pPr>
            <a:r>
              <a:t>- Clinician review/download gated by shares_clinic(clinician, patient)</a:t>
            </a:r>
          </a:p>
          <a:p>
            <a:pPr>
              <a:spcAft>
                <a:spcPts val="700"/>
              </a:spcAft>
              <a:defRPr sz="1700"/>
            </a:pPr>
            <a:r>
              <a:t>- File handling: extension allow-list, 2 MB cap, path-traversal blocked</a:t>
            </a:r>
          </a:p>
          <a:p>
            <a:pPr>
              <a:spcAft>
                <a:spcPts val="700"/>
              </a:spcAft>
              <a:defRPr sz="1700"/>
            </a:pPr>
            <a:r>
              <a:t>- Structural completeness check: "the 'date' column is missing" — never "your reading is high"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Plus a 57-case manual test plan executed by &gt;= 2 members.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5 defects found &amp; fixed (all with regression tests): JSON truncation,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name-keyed graph, work-order-&gt;outage propagation, cross-technician updates,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missing template filter.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02336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GridCare-Lite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all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ClinicCare-Lite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all pass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Total automated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green on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Enforce rules in a service layer, not the UI</a:t>
            </a:r>
          </a:p>
          <a:p>
            <a:pPr>
              <a:spcAft>
                <a:spcPts val="700"/>
              </a:spcAft>
              <a:defRPr sz="1700"/>
            </a:pPr>
            <a:r>
              <a:t>- Write the regression test the moment you find the bug</a:t>
            </a:r>
          </a:p>
          <a:p>
            <a:pPr>
              <a:spcAft>
                <a:spcPts val="700"/>
              </a:spcAft>
              <a:defRPr sz="1700"/>
            </a:pPr>
            <a:r>
              <a:t>- Treat "clean" data as untrusted anyway</a:t>
            </a:r>
          </a:p>
          <a:p>
            <a:pPr>
              <a:spcAft>
                <a:spcPts val="700"/>
              </a:spcAft>
              <a:defRPr sz="1700"/>
            </a:pPr>
            <a:r>
              <a:t>- Our first N-1 hypothesis was wrong — we kept the finding and explained it</a:t>
            </a:r>
          </a:p>
          <a:p>
            <a:pPr>
              <a:spcAft>
                <a:spcPts val="700"/>
              </a:spcAft>
              <a:defRPr sz="1700"/>
            </a:pPr>
            <a:r>
              <a:t>- Staying non-diagnostic takes active restraint — the "obvious" feature is the forbidden 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/>
            </a:pPr>
            <a:r>
              <a:t>grid-analysis: interactive map + N-1 chart + Streamlit dashboard</a:t>
            </a:r>
          </a:p>
          <a:p>
            <a:pPr>
              <a:spcAft>
                <a:spcPts val="700"/>
              </a:spcAft>
              <a:defRPr sz="1600"/>
            </a:pPr>
            <a:r>
              <a:t>GridCare-Lite: engineer -&gt; admin -&gt; technician -&gt; resolved; then a role-access rejection</a:t>
            </a:r>
          </a:p>
          <a:p>
            <a:pPr>
              <a:spcAft>
                <a:spcPts val="700"/>
              </a:spcAft>
              <a:defRPr sz="1600"/>
            </a:pPr>
            <a:r>
              <a:t>ClinicCare-Lite: clinician assigns task -&gt; patient submits (with a completeness flag) -&gt;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clinician reviews -&gt; patient sees outcome -&gt; private engagement view -&gt;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a cross-patient access attempt -&gt; 403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700"/>
            </a:pPr>
            <a:r>
              <a:t>- grid-analysis: real load/outage time-series; capacity-weighted contingency; animated grid growth</a:t>
            </a:r>
          </a:p>
          <a:p>
            <a:pPr>
              <a:spcAft>
                <a:spcPts val="700"/>
              </a:spcAft>
              <a:defRPr sz="1700"/>
            </a:pPr>
            <a:r>
              <a:t>- GridCare-Lite: multi-user server backend, SLA timers, crew scheduling</a:t>
            </a:r>
          </a:p>
          <a:p>
            <a:pPr>
              <a:spcAft>
                <a:spcPts val="700"/>
              </a:spcAft>
              <a:defRPr sz="1700"/>
            </a:pPr>
            <a:r>
              <a:t>- ClinicCare-Lite: patient self-scheduling, WebSocket messaging, real database, deployment hardening (CSRF, rate limiting)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733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i="0">
                <a:solidFill>
                  <a:srgbClr val="0D9488"/>
                </a:solidFill>
              </a:defRPr>
            </a:pPr>
            <a:r>
              <a:t>Cohort A · Team 3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Questions?</a:t>
            </a:r>
          </a:p>
          <a:p>
            <a:pPr>
              <a:spcAft>
                <a:spcPts val="700"/>
              </a:spcAft>
              <a:defRPr sz="1500" i="0">
                <a:solidFill>
                  <a:srgbClr val="1C2733"/>
                </a:solidFill>
              </a:defRPr>
            </a:pPr>
            <a:r>
              <a:t>github.com/Nana-Kojo801/cs-final-project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